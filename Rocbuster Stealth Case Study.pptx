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p:regular r:id="rId17"/>
      <p:bold r:id="rId18"/>
      <p:italic r:id="rId19"/>
      <p:boldItalic r:id="rId20"/>
    </p:embeddedFont>
    <p:embeddedFont>
      <p:font typeface="Montserrat"/>
      <p:regular r:id="rId21"/>
      <p:bold r:id="rId22"/>
      <p:italic r:id="rId23"/>
      <p:boldItalic r:id="rId24"/>
    </p:embeddedFon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22" Type="http://schemas.openxmlformats.org/officeDocument/2006/relationships/font" Target="fonts/Montserrat-bold.fntdata"/><Relationship Id="rId21" Type="http://schemas.openxmlformats.org/officeDocument/2006/relationships/font" Target="fonts/Montserrat-regular.fntdata"/><Relationship Id="rId24" Type="http://schemas.openxmlformats.org/officeDocument/2006/relationships/font" Target="fonts/Montserrat-boldItalic.fntdata"/><Relationship Id="rId23"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slide" Target="slides/slide11.xml"/><Relationship Id="rId19" Type="http://schemas.openxmlformats.org/officeDocument/2006/relationships/font" Target="fonts/Roboto-italic.fntdata"/><Relationship Id="rId1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401143cca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401143cca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401143cca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a401143cca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a401143cca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a401143cca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401143cca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a401143cca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d7999fbb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ad7999fbb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401143cca_4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a401143cca_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401143cca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401143cca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a401143cca_4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a401143cca_4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401143cca_4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a401143cca_4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d7999fbb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d7999fbb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130175" y="2800225"/>
            <a:ext cx="3897300" cy="90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3400"/>
              <a:t>Nimrat Pal Kaur</a:t>
            </a:r>
            <a:endParaRPr sz="3400"/>
          </a:p>
        </p:txBody>
      </p:sp>
      <p:sp>
        <p:nvSpPr>
          <p:cNvPr id="135" name="Google Shape;135;p13"/>
          <p:cNvSpPr txBox="1"/>
          <p:nvPr>
            <p:ph idx="1" type="subTitle"/>
          </p:nvPr>
        </p:nvSpPr>
        <p:spPr>
          <a:xfrm>
            <a:off x="251200" y="3586075"/>
            <a:ext cx="2393400" cy="54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Data Analyst </a:t>
            </a:r>
            <a:endParaRPr/>
          </a:p>
        </p:txBody>
      </p:sp>
      <p:pic>
        <p:nvPicPr>
          <p:cNvPr id="136" name="Google Shape;136;p13" title="Screenshot 2025-12-03 at 12.17.45 PM.png"/>
          <p:cNvPicPr preferRelativeResize="0"/>
          <p:nvPr/>
        </p:nvPicPr>
        <p:blipFill>
          <a:blip r:embed="rId3">
            <a:alphaModFix/>
          </a:blip>
          <a:stretch>
            <a:fillRect/>
          </a:stretch>
        </p:blipFill>
        <p:spPr>
          <a:xfrm>
            <a:off x="4254825" y="802200"/>
            <a:ext cx="4713301" cy="329345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t>Project - Rockbuster Stealth</a:t>
            </a:r>
            <a:endParaRPr b="1"/>
          </a:p>
        </p:txBody>
      </p:sp>
      <p:sp>
        <p:nvSpPr>
          <p:cNvPr id="142" name="Google Shape;142;p14"/>
          <p:cNvSpPr txBox="1"/>
          <p:nvPr>
            <p:ph idx="1" type="body"/>
          </p:nvPr>
        </p:nvSpPr>
        <p:spPr>
          <a:xfrm>
            <a:off x="1297500" y="1159525"/>
            <a:ext cx="5216100" cy="3319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GB" sz="1600"/>
              <a:t>Overview</a:t>
            </a:r>
            <a:endParaRPr b="1" sz="1600"/>
          </a:p>
          <a:p>
            <a:pPr indent="0" lvl="0" marL="0" rtl="0" algn="l">
              <a:spcBef>
                <a:spcPts val="1200"/>
              </a:spcBef>
              <a:spcAft>
                <a:spcPts val="0"/>
              </a:spcAft>
              <a:buNone/>
            </a:pPr>
            <a:r>
              <a:rPr lang="en-GB"/>
              <a:t>Rockbuster Stealth LLC, a global movie rental company, is shifting from traditional brick-and-mortar stores to an online streaming platform to compete with major players like Netflix and Amazon Prime. As a Data Analyst in the Business Intelligence team, my role was to support this transition using data-driven insights.</a:t>
            </a:r>
            <a:endParaRPr/>
          </a:p>
          <a:p>
            <a:pPr indent="0" lvl="0" marL="0" rtl="0" algn="l">
              <a:spcBef>
                <a:spcPts val="1200"/>
              </a:spcBef>
              <a:spcAft>
                <a:spcPts val="1200"/>
              </a:spcAft>
              <a:buNone/>
            </a:pPr>
            <a:r>
              <a:rPr lang="en-GB"/>
              <a:t>I worked with Rockbuster’s historical data—covering films, customers, rentals, and payments—by loading it into a PostgreSQL database and performing a series of SQL analyses. The goal was to answer key strategic questions, such as understanding customer behavior, identifying high-value markets, and analysing film performance. All insights were transformed into clear visualizations and actionable recommendations for senior management to guide Rockbuster’s 2020 online launch strategy.</a:t>
            </a:r>
            <a:endParaRPr/>
          </a:p>
        </p:txBody>
      </p:sp>
      <p:pic>
        <p:nvPicPr>
          <p:cNvPr id="143" name="Google Shape;143;p14" title="Screenshot 2025-12-03 at 12.32.23 PM.png"/>
          <p:cNvPicPr preferRelativeResize="0"/>
          <p:nvPr/>
        </p:nvPicPr>
        <p:blipFill>
          <a:blip r:embed="rId3">
            <a:alphaModFix/>
          </a:blip>
          <a:stretch>
            <a:fillRect/>
          </a:stretch>
        </p:blipFill>
        <p:spPr>
          <a:xfrm>
            <a:off x="6666000" y="1460250"/>
            <a:ext cx="2325600" cy="261295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5"/>
          <p:cNvSpPr txBox="1"/>
          <p:nvPr>
            <p:ph type="title"/>
          </p:nvPr>
        </p:nvSpPr>
        <p:spPr>
          <a:xfrm>
            <a:off x="1297500" y="393750"/>
            <a:ext cx="7038900" cy="2214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sz="2066"/>
              <a:t>Problem</a:t>
            </a:r>
            <a:endParaRPr b="1" sz="2066"/>
          </a:p>
          <a:p>
            <a:pPr indent="0" lvl="0" marL="0" rtl="0" algn="l">
              <a:spcBef>
                <a:spcPts val="0"/>
              </a:spcBef>
              <a:spcAft>
                <a:spcPts val="0"/>
              </a:spcAft>
              <a:buNone/>
            </a:pPr>
            <a:r>
              <a:rPr lang="en-GB" sz="1400"/>
              <a:t>Which movies, customer segments, and regions generate the most value, and how can these insights guide Rockbuster's online streaming launch strategy?</a:t>
            </a:r>
            <a:endParaRPr sz="1400"/>
          </a:p>
          <a:p>
            <a:pPr indent="0" lvl="0" marL="0" rtl="0" algn="l">
              <a:spcBef>
                <a:spcPts val="0"/>
              </a:spcBef>
              <a:spcAft>
                <a:spcPts val="0"/>
              </a:spcAft>
              <a:buNone/>
            </a:pPr>
            <a:r>
              <a:t/>
            </a:r>
            <a:endParaRPr sz="1511"/>
          </a:p>
          <a:p>
            <a:pPr indent="0" lvl="0" marL="0" rtl="0" algn="l">
              <a:lnSpc>
                <a:spcPct val="115000"/>
              </a:lnSpc>
              <a:spcBef>
                <a:spcPts val="0"/>
              </a:spcBef>
              <a:spcAft>
                <a:spcPts val="0"/>
              </a:spcAft>
              <a:buNone/>
            </a:pPr>
            <a:r>
              <a:rPr b="1" lang="en-GB" sz="2000">
                <a:latin typeface="Lato"/>
                <a:ea typeface="Lato"/>
                <a:cs typeface="Lato"/>
                <a:sym typeface="Lato"/>
              </a:rPr>
              <a:t>Goal</a:t>
            </a:r>
            <a:endParaRPr b="1" sz="2000">
              <a:latin typeface="Lato"/>
              <a:ea typeface="Lato"/>
              <a:cs typeface="Lato"/>
              <a:sym typeface="Lato"/>
            </a:endParaRPr>
          </a:p>
          <a:p>
            <a:pPr indent="0" lvl="0" marL="0" rtl="0" algn="l">
              <a:lnSpc>
                <a:spcPct val="115000"/>
              </a:lnSpc>
              <a:spcBef>
                <a:spcPts val="0"/>
              </a:spcBef>
              <a:spcAft>
                <a:spcPts val="0"/>
              </a:spcAft>
              <a:buNone/>
            </a:pPr>
            <a:r>
              <a:rPr lang="en-GB" sz="1411">
                <a:latin typeface="Lato"/>
                <a:ea typeface="Lato"/>
                <a:cs typeface="Lato"/>
                <a:sym typeface="Lato"/>
              </a:rPr>
              <a:t>Analyze Rockbuster’s existing data—films, customers, payments, and rentals—to uncover insights that will guide strategic decisions for their 2020 online streaming rollout.</a:t>
            </a:r>
            <a:endParaRPr sz="1411">
              <a:latin typeface="Lato"/>
              <a:ea typeface="Lato"/>
              <a:cs typeface="Lato"/>
              <a:sym typeface="Lato"/>
            </a:endParaRPr>
          </a:p>
          <a:p>
            <a:pPr indent="0" lvl="0" marL="0" rtl="0" algn="l">
              <a:lnSpc>
                <a:spcPct val="115000"/>
              </a:lnSpc>
              <a:spcBef>
                <a:spcPts val="0"/>
              </a:spcBef>
              <a:spcAft>
                <a:spcPts val="0"/>
              </a:spcAft>
              <a:buNone/>
            </a:pPr>
            <a:r>
              <a:t/>
            </a:r>
            <a:endParaRPr sz="1300">
              <a:latin typeface="Lato"/>
              <a:ea typeface="Lato"/>
              <a:cs typeface="Lato"/>
              <a:sym typeface="Lato"/>
            </a:endParaRPr>
          </a:p>
          <a:p>
            <a:pPr indent="0" lvl="0" marL="0" rtl="0" algn="l">
              <a:spcBef>
                <a:spcPts val="0"/>
              </a:spcBef>
              <a:spcAft>
                <a:spcPts val="0"/>
              </a:spcAft>
              <a:buNone/>
            </a:pPr>
            <a:r>
              <a:t/>
            </a:r>
            <a:endParaRPr sz="1511"/>
          </a:p>
          <a:p>
            <a:pPr indent="0" lvl="0" marL="0" rtl="0" algn="l">
              <a:spcBef>
                <a:spcPts val="0"/>
              </a:spcBef>
              <a:spcAft>
                <a:spcPts val="0"/>
              </a:spcAft>
              <a:buNone/>
            </a:pPr>
            <a:r>
              <a:t/>
            </a:r>
            <a:endParaRPr sz="1511"/>
          </a:p>
        </p:txBody>
      </p:sp>
      <p:sp>
        <p:nvSpPr>
          <p:cNvPr id="149" name="Google Shape;149;p15"/>
          <p:cNvSpPr txBox="1"/>
          <p:nvPr>
            <p:ph idx="1" type="body"/>
          </p:nvPr>
        </p:nvSpPr>
        <p:spPr>
          <a:xfrm>
            <a:off x="1297500" y="2865300"/>
            <a:ext cx="3274500" cy="1613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GB"/>
              <a:t>Role:</a:t>
            </a:r>
            <a:r>
              <a:rPr lang="en-GB"/>
              <a:t> Data Analyst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Project Scale:</a:t>
            </a:r>
            <a:r>
              <a:rPr lang="en-GB"/>
              <a:t> 2 weeks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Primary Stakeholder:</a:t>
            </a:r>
            <a:r>
              <a:rPr lang="en-GB"/>
              <a:t> CareerFoundry</a:t>
            </a:r>
            <a:endParaRPr/>
          </a:p>
          <a:p>
            <a:pPr indent="0" lvl="0" marL="0" rtl="0" algn="l">
              <a:lnSpc>
                <a:spcPct val="100000"/>
              </a:lnSpc>
              <a:spcBef>
                <a:spcPts val="0"/>
              </a:spcBef>
              <a:spcAft>
                <a:spcPts val="1200"/>
              </a:spcAft>
              <a:buNone/>
            </a:pPr>
            <a:r>
              <a:t/>
            </a:r>
            <a:endParaRPr sz="2000"/>
          </a:p>
        </p:txBody>
      </p:sp>
      <p:sp>
        <p:nvSpPr>
          <p:cNvPr id="150" name="Google Shape;150;p15"/>
          <p:cNvSpPr txBox="1"/>
          <p:nvPr>
            <p:ph idx="1" type="body"/>
          </p:nvPr>
        </p:nvSpPr>
        <p:spPr>
          <a:xfrm>
            <a:off x="4908550" y="2908400"/>
            <a:ext cx="3274500" cy="161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t>Tools Used</a:t>
            </a:r>
            <a:endParaRPr b="1"/>
          </a:p>
          <a:p>
            <a:pPr indent="-311150" lvl="0" marL="457200" rtl="0" algn="l">
              <a:spcBef>
                <a:spcPts val="0"/>
              </a:spcBef>
              <a:spcAft>
                <a:spcPts val="0"/>
              </a:spcAft>
              <a:buSzPts val="1300"/>
              <a:buChar char="●"/>
            </a:pPr>
            <a:r>
              <a:rPr lang="en-GB"/>
              <a:t>SQL</a:t>
            </a:r>
            <a:endParaRPr/>
          </a:p>
          <a:p>
            <a:pPr indent="-311150" lvl="0" marL="457200" rtl="0" algn="l">
              <a:spcBef>
                <a:spcPts val="0"/>
              </a:spcBef>
              <a:spcAft>
                <a:spcPts val="0"/>
              </a:spcAft>
              <a:buSzPts val="1300"/>
              <a:buChar char="●"/>
            </a:pPr>
            <a:r>
              <a:rPr lang="en-GB"/>
              <a:t>Tableau</a:t>
            </a:r>
            <a:endParaRPr/>
          </a:p>
          <a:p>
            <a:pPr indent="-311150" lvl="0" marL="457200" rtl="0" algn="l">
              <a:spcBef>
                <a:spcPts val="0"/>
              </a:spcBef>
              <a:spcAft>
                <a:spcPts val="0"/>
              </a:spcAft>
              <a:buSzPts val="1300"/>
              <a:buChar char="●"/>
            </a:pPr>
            <a:r>
              <a:rPr lang="en-GB"/>
              <a:t>Google Slides</a:t>
            </a:r>
            <a:endParaRPr/>
          </a:p>
          <a:p>
            <a:pPr indent="0" lvl="0" marL="0" rtl="0" algn="l">
              <a:lnSpc>
                <a:spcPct val="100000"/>
              </a:lnSpc>
              <a:spcBef>
                <a:spcPts val="0"/>
              </a:spcBef>
              <a:spcAft>
                <a:spcPts val="1200"/>
              </a:spcAft>
              <a:buNone/>
            </a:pPr>
            <a:r>
              <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latin typeface="Roboto"/>
                <a:ea typeface="Roboto"/>
                <a:cs typeface="Roboto"/>
                <a:sym typeface="Roboto"/>
              </a:rPr>
              <a:t>Key Questions and Objectives</a:t>
            </a:r>
            <a:endParaRPr b="1" sz="1800"/>
          </a:p>
        </p:txBody>
      </p:sp>
      <p:sp>
        <p:nvSpPr>
          <p:cNvPr id="156" name="Google Shape;156;p16"/>
          <p:cNvSpPr txBox="1"/>
          <p:nvPr>
            <p:ph idx="1" type="body"/>
          </p:nvPr>
        </p:nvSpPr>
        <p:spPr>
          <a:xfrm>
            <a:off x="1297500" y="1567550"/>
            <a:ext cx="5028300" cy="2911200"/>
          </a:xfrm>
          <a:prstGeom prst="rect">
            <a:avLst/>
          </a:prstGeom>
        </p:spPr>
        <p:txBody>
          <a:bodyPr anchorCtr="0" anchor="t" bIns="91425" lIns="91425" spcFirstLastPara="1" rIns="91425" wrap="square" tIns="91425">
            <a:normAutofit/>
          </a:bodyPr>
          <a:lstStyle/>
          <a:p>
            <a:pPr indent="-304800" lvl="0" marL="457200" rtl="0" algn="l">
              <a:lnSpc>
                <a:spcPct val="105000"/>
              </a:lnSpc>
              <a:spcBef>
                <a:spcPts val="0"/>
              </a:spcBef>
              <a:spcAft>
                <a:spcPts val="0"/>
              </a:spcAft>
              <a:buSzPts val="1200"/>
              <a:buFont typeface="Roboto"/>
              <a:buChar char="●"/>
            </a:pPr>
            <a:r>
              <a:rPr lang="en-GB">
                <a:latin typeface="Roboto"/>
                <a:ea typeface="Roboto"/>
                <a:cs typeface="Roboto"/>
                <a:sym typeface="Roboto"/>
              </a:rPr>
              <a:t>Which movies contributed the most/least to revenue gain?</a:t>
            </a:r>
            <a:endParaRPr>
              <a:latin typeface="Roboto"/>
              <a:ea typeface="Roboto"/>
              <a:cs typeface="Roboto"/>
              <a:sym typeface="Roboto"/>
            </a:endParaRPr>
          </a:p>
          <a:p>
            <a:pPr indent="-304800" lvl="0" marL="457200" rtl="0" algn="l">
              <a:lnSpc>
                <a:spcPct val="105000"/>
              </a:lnSpc>
              <a:spcBef>
                <a:spcPts val="0"/>
              </a:spcBef>
              <a:spcAft>
                <a:spcPts val="0"/>
              </a:spcAft>
              <a:buSzPts val="1200"/>
              <a:buFont typeface="Roboto"/>
              <a:buChar char="●"/>
            </a:pPr>
            <a:r>
              <a:rPr lang="en-GB">
                <a:latin typeface="Roboto"/>
                <a:ea typeface="Roboto"/>
                <a:cs typeface="Roboto"/>
                <a:sym typeface="Roboto"/>
              </a:rPr>
              <a:t>What was the average rental duration for all videos?</a:t>
            </a:r>
            <a:endParaRPr>
              <a:latin typeface="Roboto"/>
              <a:ea typeface="Roboto"/>
              <a:cs typeface="Roboto"/>
              <a:sym typeface="Roboto"/>
            </a:endParaRPr>
          </a:p>
          <a:p>
            <a:pPr indent="-304800" lvl="0" marL="457200" rtl="0" algn="l">
              <a:lnSpc>
                <a:spcPct val="105000"/>
              </a:lnSpc>
              <a:spcBef>
                <a:spcPts val="0"/>
              </a:spcBef>
              <a:spcAft>
                <a:spcPts val="0"/>
              </a:spcAft>
              <a:buSzPts val="1200"/>
              <a:buFont typeface="Roboto"/>
              <a:buChar char="●"/>
            </a:pPr>
            <a:r>
              <a:rPr lang="en-GB">
                <a:latin typeface="Roboto"/>
                <a:ea typeface="Roboto"/>
                <a:cs typeface="Roboto"/>
                <a:sym typeface="Roboto"/>
              </a:rPr>
              <a:t>Which countries are Rockbuster customer based in?</a:t>
            </a:r>
            <a:endParaRPr>
              <a:latin typeface="Roboto"/>
              <a:ea typeface="Roboto"/>
              <a:cs typeface="Roboto"/>
              <a:sym typeface="Roboto"/>
            </a:endParaRPr>
          </a:p>
          <a:p>
            <a:pPr indent="-304800" lvl="0" marL="457200" rtl="0" algn="l">
              <a:lnSpc>
                <a:spcPct val="105000"/>
              </a:lnSpc>
              <a:spcBef>
                <a:spcPts val="0"/>
              </a:spcBef>
              <a:spcAft>
                <a:spcPts val="0"/>
              </a:spcAft>
              <a:buSzPts val="1200"/>
              <a:buFont typeface="Roboto"/>
              <a:buChar char="●"/>
            </a:pPr>
            <a:r>
              <a:rPr lang="en-GB">
                <a:latin typeface="Roboto"/>
                <a:ea typeface="Roboto"/>
                <a:cs typeface="Roboto"/>
                <a:sym typeface="Roboto"/>
              </a:rPr>
              <a:t>Where are customers with a high lifetime value based?</a:t>
            </a:r>
            <a:endParaRPr>
              <a:latin typeface="Roboto"/>
              <a:ea typeface="Roboto"/>
              <a:cs typeface="Roboto"/>
              <a:sym typeface="Roboto"/>
            </a:endParaRPr>
          </a:p>
          <a:p>
            <a:pPr indent="-304800" lvl="0" marL="457200" rtl="0" algn="l">
              <a:lnSpc>
                <a:spcPct val="105000"/>
              </a:lnSpc>
              <a:spcBef>
                <a:spcPts val="0"/>
              </a:spcBef>
              <a:spcAft>
                <a:spcPts val="0"/>
              </a:spcAft>
              <a:buSzPts val="1200"/>
              <a:buFont typeface="Roboto"/>
              <a:buChar char="●"/>
            </a:pPr>
            <a:r>
              <a:rPr lang="en-GB">
                <a:latin typeface="Roboto"/>
                <a:ea typeface="Roboto"/>
                <a:cs typeface="Roboto"/>
                <a:sym typeface="Roboto"/>
              </a:rPr>
              <a:t>Do sales figures vary between geographic regions?</a:t>
            </a:r>
            <a:endParaRPr>
              <a:latin typeface="Roboto"/>
              <a:ea typeface="Roboto"/>
              <a:cs typeface="Roboto"/>
              <a:sym typeface="Roboto"/>
            </a:endParaRPr>
          </a:p>
          <a:p>
            <a:pPr indent="0" lvl="0" marL="0" rtl="0" algn="l">
              <a:lnSpc>
                <a:spcPct val="105000"/>
              </a:lnSpc>
              <a:spcBef>
                <a:spcPts val="1200"/>
              </a:spcBef>
              <a:spcAft>
                <a:spcPts val="1200"/>
              </a:spcAft>
              <a:buNone/>
            </a:pPr>
            <a:r>
              <a:t/>
            </a:r>
            <a:endParaRPr/>
          </a:p>
        </p:txBody>
      </p:sp>
      <p:pic>
        <p:nvPicPr>
          <p:cNvPr id="157" name="Google Shape;157;p16" title="Screenshot 2025-12-03 at 1.48.02 PM.png"/>
          <p:cNvPicPr preferRelativeResize="0"/>
          <p:nvPr/>
        </p:nvPicPr>
        <p:blipFill>
          <a:blip r:embed="rId3">
            <a:alphaModFix/>
          </a:blip>
          <a:stretch>
            <a:fillRect/>
          </a:stretch>
        </p:blipFill>
        <p:spPr>
          <a:xfrm>
            <a:off x="6478200" y="1460250"/>
            <a:ext cx="2513400" cy="2407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My Analytical Journey</a:t>
            </a:r>
            <a:endParaRPr/>
          </a:p>
        </p:txBody>
      </p:sp>
      <p:sp>
        <p:nvSpPr>
          <p:cNvPr id="163" name="Google Shape;163;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None/>
            </a:pPr>
            <a:r>
              <a:rPr b="1" lang="en-GB" sz="1500"/>
              <a:t>Data Setup</a:t>
            </a:r>
            <a:endParaRPr b="1" sz="1500"/>
          </a:p>
          <a:p>
            <a:pPr indent="0" lvl="0" marL="0" rtl="0" algn="l">
              <a:lnSpc>
                <a:spcPct val="100000"/>
              </a:lnSpc>
              <a:spcBef>
                <a:spcPts val="500"/>
              </a:spcBef>
              <a:spcAft>
                <a:spcPts val="0"/>
              </a:spcAft>
              <a:buNone/>
            </a:pPr>
            <a:r>
              <a:rPr lang="en-GB" sz="1391"/>
              <a:t>To answer the key questions, the data was loaded into PostgreSQL database and I used SQL for comprehensive data analysis. </a:t>
            </a:r>
            <a:endParaRPr sz="1191"/>
          </a:p>
          <a:p>
            <a:pPr indent="0" lvl="0" marL="0" rtl="0" algn="l">
              <a:lnSpc>
                <a:spcPct val="100000"/>
              </a:lnSpc>
              <a:spcBef>
                <a:spcPts val="500"/>
              </a:spcBef>
              <a:spcAft>
                <a:spcPts val="0"/>
              </a:spcAft>
              <a:buNone/>
            </a:pPr>
            <a:r>
              <a:t/>
            </a:r>
            <a:endParaRPr/>
          </a:p>
          <a:p>
            <a:pPr indent="0" lvl="0" marL="0" rtl="0" algn="l">
              <a:lnSpc>
                <a:spcPct val="100000"/>
              </a:lnSpc>
              <a:spcBef>
                <a:spcPts val="500"/>
              </a:spcBef>
              <a:spcAft>
                <a:spcPts val="0"/>
              </a:spcAft>
              <a:buNone/>
            </a:pPr>
            <a:r>
              <a:rPr b="1" lang="en-GB" sz="1500"/>
              <a:t>Data Cleaning &amp; Exploration</a:t>
            </a:r>
            <a:endParaRPr b="1" sz="1500"/>
          </a:p>
          <a:p>
            <a:pPr indent="0" lvl="0" marL="0" rtl="0" algn="l">
              <a:lnSpc>
                <a:spcPct val="100000"/>
              </a:lnSpc>
              <a:spcBef>
                <a:spcPts val="500"/>
              </a:spcBef>
              <a:spcAft>
                <a:spcPts val="0"/>
              </a:spcAft>
              <a:buNone/>
            </a:pPr>
            <a:r>
              <a:rPr lang="en-GB"/>
              <a:t>I </a:t>
            </a:r>
            <a:r>
              <a:rPr lang="en-GB"/>
              <a:t>identified</a:t>
            </a:r>
            <a:r>
              <a:rPr lang="en-GB"/>
              <a:t> missing values, outliers and inconsistencies.</a:t>
            </a:r>
            <a:endParaRPr/>
          </a:p>
          <a:p>
            <a:pPr indent="0" lvl="0" marL="0" rtl="0" algn="l">
              <a:lnSpc>
                <a:spcPct val="100000"/>
              </a:lnSpc>
              <a:spcBef>
                <a:spcPts val="500"/>
              </a:spcBef>
              <a:spcAft>
                <a:spcPts val="0"/>
              </a:spcAft>
              <a:buNone/>
            </a:pPr>
            <a:r>
              <a:rPr lang="en-GB"/>
              <a:t>I used SQL joins and aggregations  functions to uncover patterns hidden in the data.</a:t>
            </a:r>
            <a:endParaRPr/>
          </a:p>
          <a:p>
            <a:pPr indent="0" lvl="0" marL="0" rtl="0" algn="l">
              <a:lnSpc>
                <a:spcPct val="100000"/>
              </a:lnSpc>
              <a:spcBef>
                <a:spcPts val="500"/>
              </a:spcBef>
              <a:spcAft>
                <a:spcPts val="0"/>
              </a:spcAft>
              <a:buNone/>
            </a:pPr>
            <a:r>
              <a:t/>
            </a:r>
            <a:endParaRPr/>
          </a:p>
          <a:p>
            <a:pPr indent="0" lvl="0" marL="0" rtl="0" algn="l">
              <a:lnSpc>
                <a:spcPct val="100000"/>
              </a:lnSpc>
              <a:spcBef>
                <a:spcPts val="500"/>
              </a:spcBef>
              <a:spcAft>
                <a:spcPts val="0"/>
              </a:spcAft>
              <a:buNone/>
            </a:pPr>
            <a:r>
              <a:rPr b="1" lang="en-GB" sz="1624"/>
              <a:t>Focus</a:t>
            </a:r>
            <a:endParaRPr b="1" sz="1624"/>
          </a:p>
          <a:p>
            <a:pPr indent="0" lvl="0" marL="0" rtl="0" algn="l">
              <a:lnSpc>
                <a:spcPct val="100000"/>
              </a:lnSpc>
              <a:spcBef>
                <a:spcPts val="500"/>
              </a:spcBef>
              <a:spcAft>
                <a:spcPts val="0"/>
              </a:spcAft>
              <a:buNone/>
            </a:pPr>
            <a:r>
              <a:rPr lang="en-GB"/>
              <a:t>The analysis focused on three critical areas: Movie Performance by Rating, Geographic Sales Distribution, and Revenue by Genre</a:t>
            </a:r>
            <a:endParaRPr/>
          </a:p>
          <a:p>
            <a:pPr indent="0" lvl="0" marL="0" rtl="0" algn="l">
              <a:lnSpc>
                <a:spcPct val="100000"/>
              </a:lnSpc>
              <a:spcBef>
                <a:spcPts val="500"/>
              </a:spcBef>
              <a:spcAft>
                <a:spcPts val="0"/>
              </a:spcAft>
              <a:buNone/>
            </a:pPr>
            <a:r>
              <a:t/>
            </a:r>
            <a:endParaRPr/>
          </a:p>
          <a:p>
            <a:pPr indent="0" lvl="0" marL="0" rtl="0" algn="l">
              <a:spcBef>
                <a:spcPts val="5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t>Rental Statistics</a:t>
            </a:r>
            <a:endParaRPr b="1"/>
          </a:p>
        </p:txBody>
      </p:sp>
      <p:sp>
        <p:nvSpPr>
          <p:cNvPr id="169" name="Google Shape;169;p18"/>
          <p:cNvSpPr txBox="1"/>
          <p:nvPr>
            <p:ph idx="1" type="body"/>
          </p:nvPr>
        </p:nvSpPr>
        <p:spPr>
          <a:xfrm>
            <a:off x="842625" y="1538250"/>
            <a:ext cx="2564400" cy="2792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en-GB"/>
              <a:t>Rental duration: 5 days</a:t>
            </a:r>
            <a:endParaRPr/>
          </a:p>
          <a:p>
            <a:pPr indent="-311150" lvl="0" marL="457200" rtl="0" algn="l">
              <a:spcBef>
                <a:spcPts val="0"/>
              </a:spcBef>
              <a:spcAft>
                <a:spcPts val="0"/>
              </a:spcAft>
              <a:buSzPts val="1300"/>
              <a:buChar char="●"/>
            </a:pPr>
            <a:r>
              <a:rPr lang="en-GB"/>
              <a:t>Rental rate: 2.98</a:t>
            </a:r>
            <a:endParaRPr/>
          </a:p>
          <a:p>
            <a:pPr indent="-311150" lvl="0" marL="457200" rtl="0" algn="l">
              <a:spcBef>
                <a:spcPts val="0"/>
              </a:spcBef>
              <a:spcAft>
                <a:spcPts val="0"/>
              </a:spcAft>
              <a:buSzPts val="1300"/>
              <a:buChar char="●"/>
            </a:pPr>
            <a:r>
              <a:rPr lang="en-GB"/>
              <a:t>Replacement cost: 19.98</a:t>
            </a:r>
            <a:endParaRPr/>
          </a:p>
          <a:p>
            <a:pPr indent="-311150" lvl="0" marL="457200" rtl="0" algn="l">
              <a:spcBef>
                <a:spcPts val="0"/>
              </a:spcBef>
              <a:spcAft>
                <a:spcPts val="0"/>
              </a:spcAft>
              <a:buSzPts val="1300"/>
              <a:buChar char="●"/>
            </a:pPr>
            <a:r>
              <a:rPr lang="en-GB"/>
              <a:t>Length: 115.27 minutes</a:t>
            </a:r>
            <a:endParaRPr/>
          </a:p>
        </p:txBody>
      </p:sp>
      <p:sp>
        <p:nvSpPr>
          <p:cNvPr id="170" name="Google Shape;170;p18"/>
          <p:cNvSpPr/>
          <p:nvPr/>
        </p:nvSpPr>
        <p:spPr>
          <a:xfrm>
            <a:off x="989800" y="1589550"/>
            <a:ext cx="995700" cy="4620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Average</a:t>
            </a:r>
            <a:endParaRPr>
              <a:latin typeface="Lato"/>
              <a:ea typeface="Lato"/>
              <a:cs typeface="Lato"/>
              <a:sym typeface="Lato"/>
            </a:endParaRPr>
          </a:p>
        </p:txBody>
      </p:sp>
      <p:sp>
        <p:nvSpPr>
          <p:cNvPr id="171" name="Google Shape;171;p18"/>
          <p:cNvSpPr txBox="1"/>
          <p:nvPr>
            <p:ph idx="1" type="body"/>
          </p:nvPr>
        </p:nvSpPr>
        <p:spPr>
          <a:xfrm>
            <a:off x="3508750" y="1538250"/>
            <a:ext cx="2337300" cy="2792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en-GB"/>
              <a:t>Rental duration: 3 days</a:t>
            </a:r>
            <a:endParaRPr/>
          </a:p>
          <a:p>
            <a:pPr indent="-311150" lvl="0" marL="457200" rtl="0" algn="l">
              <a:spcBef>
                <a:spcPts val="0"/>
              </a:spcBef>
              <a:spcAft>
                <a:spcPts val="0"/>
              </a:spcAft>
              <a:buSzPts val="1300"/>
              <a:buChar char="●"/>
            </a:pPr>
            <a:r>
              <a:rPr lang="en-GB"/>
              <a:t>Rental rate: 0.99</a:t>
            </a:r>
            <a:endParaRPr/>
          </a:p>
          <a:p>
            <a:pPr indent="-311150" lvl="0" marL="457200" rtl="0" algn="l">
              <a:spcBef>
                <a:spcPts val="0"/>
              </a:spcBef>
              <a:spcAft>
                <a:spcPts val="0"/>
              </a:spcAft>
              <a:buSzPts val="1300"/>
              <a:buChar char="●"/>
            </a:pPr>
            <a:r>
              <a:rPr lang="en-GB"/>
              <a:t>Replacement cost: 9.99</a:t>
            </a:r>
            <a:endParaRPr/>
          </a:p>
          <a:p>
            <a:pPr indent="-311150" lvl="0" marL="457200" rtl="0" algn="l">
              <a:spcBef>
                <a:spcPts val="0"/>
              </a:spcBef>
              <a:spcAft>
                <a:spcPts val="0"/>
              </a:spcAft>
              <a:buSzPts val="1300"/>
              <a:buChar char="●"/>
            </a:pPr>
            <a:r>
              <a:rPr lang="en-GB"/>
              <a:t>Length: 46 minutes</a:t>
            </a:r>
            <a:endParaRPr/>
          </a:p>
        </p:txBody>
      </p:sp>
      <p:sp>
        <p:nvSpPr>
          <p:cNvPr id="172" name="Google Shape;172;p18"/>
          <p:cNvSpPr/>
          <p:nvPr/>
        </p:nvSpPr>
        <p:spPr>
          <a:xfrm>
            <a:off x="3670775" y="1586100"/>
            <a:ext cx="1033200" cy="4689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Minimum</a:t>
            </a:r>
            <a:endParaRPr>
              <a:latin typeface="Lato"/>
              <a:ea typeface="Lato"/>
              <a:cs typeface="Lato"/>
              <a:sym typeface="Lato"/>
            </a:endParaRPr>
          </a:p>
        </p:txBody>
      </p:sp>
      <p:sp>
        <p:nvSpPr>
          <p:cNvPr id="173" name="Google Shape;173;p18"/>
          <p:cNvSpPr txBox="1"/>
          <p:nvPr>
            <p:ph idx="1" type="body"/>
          </p:nvPr>
        </p:nvSpPr>
        <p:spPr>
          <a:xfrm>
            <a:off x="6159625" y="1589550"/>
            <a:ext cx="2449500" cy="2792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en-GB"/>
              <a:t>Rental duration: 7 days</a:t>
            </a:r>
            <a:endParaRPr/>
          </a:p>
          <a:p>
            <a:pPr indent="-311150" lvl="0" marL="457200" rtl="0" algn="l">
              <a:spcBef>
                <a:spcPts val="0"/>
              </a:spcBef>
              <a:spcAft>
                <a:spcPts val="0"/>
              </a:spcAft>
              <a:buSzPts val="1300"/>
              <a:buChar char="●"/>
            </a:pPr>
            <a:r>
              <a:rPr lang="en-GB"/>
              <a:t>Rental rate: 4.99</a:t>
            </a:r>
            <a:endParaRPr/>
          </a:p>
          <a:p>
            <a:pPr indent="-311150" lvl="0" marL="457200" rtl="0" algn="l">
              <a:spcBef>
                <a:spcPts val="0"/>
              </a:spcBef>
              <a:spcAft>
                <a:spcPts val="0"/>
              </a:spcAft>
              <a:buSzPts val="1300"/>
              <a:buChar char="●"/>
            </a:pPr>
            <a:r>
              <a:rPr lang="en-GB"/>
              <a:t>Replacement cost: 29.99</a:t>
            </a:r>
            <a:endParaRPr/>
          </a:p>
          <a:p>
            <a:pPr indent="-311150" lvl="0" marL="457200" rtl="0" algn="l">
              <a:spcBef>
                <a:spcPts val="0"/>
              </a:spcBef>
              <a:spcAft>
                <a:spcPts val="0"/>
              </a:spcAft>
              <a:buSzPts val="1300"/>
              <a:buChar char="●"/>
            </a:pPr>
            <a:r>
              <a:rPr lang="en-GB"/>
              <a:t>Length: 185 minutes</a:t>
            </a:r>
            <a:endParaRPr/>
          </a:p>
        </p:txBody>
      </p:sp>
      <p:sp>
        <p:nvSpPr>
          <p:cNvPr id="174" name="Google Shape;174;p18"/>
          <p:cNvSpPr/>
          <p:nvPr/>
        </p:nvSpPr>
        <p:spPr>
          <a:xfrm>
            <a:off x="6271825" y="1655875"/>
            <a:ext cx="1069800" cy="4689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Maximum</a:t>
            </a:r>
            <a:endParaRPr>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9"/>
          <p:cNvSpPr txBox="1"/>
          <p:nvPr>
            <p:ph type="title"/>
          </p:nvPr>
        </p:nvSpPr>
        <p:spPr>
          <a:xfrm>
            <a:off x="1297500" y="393750"/>
            <a:ext cx="7038900" cy="597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t>Insights &amp;  Analysis</a:t>
            </a:r>
            <a:endParaRPr b="1"/>
          </a:p>
        </p:txBody>
      </p:sp>
      <p:sp>
        <p:nvSpPr>
          <p:cNvPr id="180" name="Google Shape;180;p19"/>
          <p:cNvSpPr txBox="1"/>
          <p:nvPr>
            <p:ph idx="1" type="body"/>
          </p:nvPr>
        </p:nvSpPr>
        <p:spPr>
          <a:xfrm>
            <a:off x="1297500" y="1093025"/>
            <a:ext cx="4198800" cy="3385800"/>
          </a:xfrm>
          <a:prstGeom prst="rect">
            <a:avLst/>
          </a:prstGeom>
        </p:spPr>
        <p:txBody>
          <a:bodyPr anchorCtr="0" anchor="t" bIns="91425" lIns="91425" spcFirstLastPara="1" rIns="91425" wrap="square" tIns="91425">
            <a:normAutofit fontScale="32500" lnSpcReduction="10000"/>
          </a:bodyPr>
          <a:lstStyle/>
          <a:p>
            <a:pPr indent="0" lvl="0" marL="0" rtl="0" algn="l">
              <a:spcBef>
                <a:spcPts val="0"/>
              </a:spcBef>
              <a:spcAft>
                <a:spcPts val="0"/>
              </a:spcAft>
              <a:buNone/>
            </a:pPr>
            <a:r>
              <a:rPr b="1" lang="en-GB" sz="3606" u="sng"/>
              <a:t>Insight 1 - Movie Ratings Performance</a:t>
            </a:r>
            <a:endParaRPr b="1" sz="3606" u="sng"/>
          </a:p>
          <a:p>
            <a:pPr indent="0" lvl="0" marL="0" rtl="0" algn="l">
              <a:spcBef>
                <a:spcPts val="1200"/>
              </a:spcBef>
              <a:spcAft>
                <a:spcPts val="0"/>
              </a:spcAft>
              <a:buNone/>
            </a:pPr>
            <a:r>
              <a:rPr b="1" lang="en-GB" sz="3374" u="sng"/>
              <a:t>Goal</a:t>
            </a:r>
            <a:r>
              <a:rPr lang="en-GB" sz="3066"/>
              <a:t> - To answer the question: "Which movies contributed the most/least to revenue gain?"</a:t>
            </a:r>
            <a:r>
              <a:rPr lang="en-GB" sz="2566"/>
              <a:t> </a:t>
            </a:r>
            <a:endParaRPr sz="2566"/>
          </a:p>
          <a:p>
            <a:pPr indent="0" lvl="0" marL="0" rtl="0" algn="l">
              <a:spcBef>
                <a:spcPts val="1200"/>
              </a:spcBef>
              <a:spcAft>
                <a:spcPts val="0"/>
              </a:spcAft>
              <a:buNone/>
            </a:pPr>
            <a:r>
              <a:rPr b="1" lang="en-GB" sz="3181" u="sng"/>
              <a:t>Process</a:t>
            </a:r>
            <a:r>
              <a:rPr lang="en-GB" sz="2874"/>
              <a:t> </a:t>
            </a:r>
            <a:r>
              <a:rPr lang="en-GB" sz="2566"/>
              <a:t>- </a:t>
            </a:r>
            <a:r>
              <a:rPr lang="en-GB" sz="2874"/>
              <a:t>In SQL, I joined four different tables (payments, rental, inventory and film. Then I calculated total revenue generated by all payments, grouped revenue for each specific film rating, and sorted revenue by highest to lowest.</a:t>
            </a:r>
            <a:endParaRPr sz="2874"/>
          </a:p>
          <a:p>
            <a:pPr indent="0" lvl="0" marL="0" rtl="0" algn="l">
              <a:spcBef>
                <a:spcPts val="1200"/>
              </a:spcBef>
              <a:spcAft>
                <a:spcPts val="0"/>
              </a:spcAft>
              <a:buNone/>
            </a:pPr>
            <a:r>
              <a:rPr b="1" lang="en-GB" sz="3066" u="sng"/>
              <a:t>Findings</a:t>
            </a:r>
            <a:r>
              <a:rPr lang="en-GB" sz="3066"/>
              <a:t> - In the given year, </a:t>
            </a:r>
            <a:r>
              <a:rPr lang="en-GB" sz="3066"/>
              <a:t>PG-13 content is the most profitable rating category for Rockbuster.</a:t>
            </a:r>
            <a:endParaRPr sz="3066"/>
          </a:p>
          <a:p>
            <a:pPr indent="-286726" lvl="0" marL="457200" rtl="0" algn="l">
              <a:spcBef>
                <a:spcPts val="1200"/>
              </a:spcBef>
              <a:spcAft>
                <a:spcPts val="0"/>
              </a:spcAft>
              <a:buSzPct val="100000"/>
              <a:buChar char="●"/>
            </a:pPr>
            <a:r>
              <a:rPr lang="en-GB" sz="2816"/>
              <a:t>PG-13 movies generated the highest revenue: $13,856.</a:t>
            </a:r>
            <a:endParaRPr sz="2816"/>
          </a:p>
          <a:p>
            <a:pPr indent="-286726" lvl="0" marL="457200" rtl="0" algn="l">
              <a:spcBef>
                <a:spcPts val="0"/>
              </a:spcBef>
              <a:spcAft>
                <a:spcPts val="0"/>
              </a:spcAft>
              <a:buSzPct val="100000"/>
              <a:buChar char="●"/>
            </a:pPr>
            <a:r>
              <a:rPr lang="en-GB" sz="2816"/>
              <a:t>G-rated films generated the lowest revenue: $10,512.</a:t>
            </a:r>
            <a:endParaRPr sz="2816"/>
          </a:p>
          <a:p>
            <a:pPr indent="0" lvl="0" marL="0" rtl="0" algn="l">
              <a:spcBef>
                <a:spcPts val="1200"/>
              </a:spcBef>
              <a:spcAft>
                <a:spcPts val="0"/>
              </a:spcAft>
              <a:buNone/>
            </a:pPr>
            <a:r>
              <a:rPr b="1" lang="en-GB" sz="3106" u="sng"/>
              <a:t>How I showed</a:t>
            </a:r>
            <a:r>
              <a:rPr lang="en-GB" sz="3106"/>
              <a:t> -  I used Tableau to create a simple bar chart so management could see the revenue for each rating category instantly.</a:t>
            </a:r>
            <a:endParaRPr sz="3106"/>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sz="1200"/>
          </a:p>
        </p:txBody>
      </p:sp>
      <p:pic>
        <p:nvPicPr>
          <p:cNvPr id="181" name="Google Shape;181;p19" title="Screenshot 2025-12-03 at 2.35.16 PM.png"/>
          <p:cNvPicPr preferRelativeResize="0"/>
          <p:nvPr/>
        </p:nvPicPr>
        <p:blipFill>
          <a:blip r:embed="rId3">
            <a:alphaModFix/>
          </a:blip>
          <a:stretch>
            <a:fillRect/>
          </a:stretch>
        </p:blipFill>
        <p:spPr>
          <a:xfrm>
            <a:off x="5804875" y="589725"/>
            <a:ext cx="2166450" cy="42623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0"/>
          <p:cNvSpPr txBox="1"/>
          <p:nvPr>
            <p:ph idx="1" type="body"/>
          </p:nvPr>
        </p:nvSpPr>
        <p:spPr>
          <a:xfrm>
            <a:off x="1116450" y="562125"/>
            <a:ext cx="3455400" cy="38853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b="1" lang="en-GB" sz="2015" u="sng"/>
              <a:t>Insight 2 - Geographic Revenue Distribution</a:t>
            </a:r>
            <a:endParaRPr b="1" sz="2015" u="sng"/>
          </a:p>
          <a:p>
            <a:pPr indent="0" lvl="0" marL="0" rtl="0" algn="l">
              <a:spcBef>
                <a:spcPts val="1200"/>
              </a:spcBef>
              <a:spcAft>
                <a:spcPts val="0"/>
              </a:spcAft>
              <a:buNone/>
            </a:pPr>
            <a:r>
              <a:rPr b="1" lang="en-GB" sz="1849" u="sng"/>
              <a:t>Goal</a:t>
            </a:r>
            <a:r>
              <a:rPr lang="en-GB" sz="1849"/>
              <a:t> - We needed to know if sales changed much across different countries and identify the most valuable customers.</a:t>
            </a:r>
            <a:endParaRPr sz="1849"/>
          </a:p>
          <a:p>
            <a:pPr indent="0" lvl="0" marL="0" rtl="0" algn="l">
              <a:spcBef>
                <a:spcPts val="0"/>
              </a:spcBef>
              <a:spcAft>
                <a:spcPts val="0"/>
              </a:spcAft>
              <a:buNone/>
            </a:pPr>
            <a:r>
              <a:t/>
            </a:r>
            <a:endParaRPr sz="1689"/>
          </a:p>
          <a:p>
            <a:pPr indent="0" lvl="0" marL="0" rtl="0" algn="l">
              <a:spcBef>
                <a:spcPts val="0"/>
              </a:spcBef>
              <a:spcAft>
                <a:spcPts val="0"/>
              </a:spcAft>
              <a:buNone/>
            </a:pPr>
            <a:r>
              <a:rPr b="1" lang="en-GB" sz="1849" u="sng"/>
              <a:t>Findings</a:t>
            </a:r>
            <a:r>
              <a:rPr lang="en-GB" sz="1849"/>
              <a:t> - Sales varied a lot by country. The top 5 countries that brought in the highest revenue were India, China, United States, Japan and Mexico.</a:t>
            </a:r>
            <a:endParaRPr sz="1849"/>
          </a:p>
          <a:p>
            <a:pPr indent="0" lvl="0" marL="0" rtl="0" algn="l">
              <a:spcBef>
                <a:spcPts val="0"/>
              </a:spcBef>
              <a:spcAft>
                <a:spcPts val="0"/>
              </a:spcAft>
              <a:buNone/>
            </a:pPr>
            <a:r>
              <a:t/>
            </a:r>
            <a:endParaRPr sz="1689"/>
          </a:p>
          <a:p>
            <a:pPr indent="0" lvl="0" marL="0" rtl="0" algn="l">
              <a:spcBef>
                <a:spcPts val="0"/>
              </a:spcBef>
              <a:spcAft>
                <a:spcPts val="0"/>
              </a:spcAft>
              <a:buNone/>
            </a:pPr>
            <a:r>
              <a:rPr b="1" lang="en-GB" sz="1849" u="sng"/>
              <a:t>Why it mattered</a:t>
            </a:r>
            <a:r>
              <a:rPr lang="en-GB" sz="1849"/>
              <a:t> - This showed us exactly where to focus our marketing and online launch efforts to get the biggest return.</a:t>
            </a:r>
            <a:endParaRPr sz="1849"/>
          </a:p>
          <a:p>
            <a:pPr indent="0" lvl="0" marL="0" rtl="0" algn="l">
              <a:spcBef>
                <a:spcPts val="0"/>
              </a:spcBef>
              <a:spcAft>
                <a:spcPts val="0"/>
              </a:spcAft>
              <a:buNone/>
            </a:pPr>
            <a:r>
              <a:t/>
            </a:r>
            <a:endParaRPr sz="1689"/>
          </a:p>
          <a:p>
            <a:pPr indent="0" lvl="0" marL="0" rtl="0" algn="l">
              <a:spcBef>
                <a:spcPts val="0"/>
              </a:spcBef>
              <a:spcAft>
                <a:spcPts val="0"/>
              </a:spcAft>
              <a:buNone/>
            </a:pPr>
            <a:r>
              <a:rPr b="1" lang="en-GB" sz="1849" u="sng"/>
              <a:t>My decision</a:t>
            </a:r>
            <a:r>
              <a:rPr lang="en-GB" sz="1849"/>
              <a:t> - To make this clear, I chose a geographic visualization. Seeing the names of the top countries made the recommendation easy to grasp.</a:t>
            </a:r>
            <a:endParaRPr sz="1849"/>
          </a:p>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0"/>
              </a:spcBef>
              <a:spcAft>
                <a:spcPts val="1200"/>
              </a:spcAft>
              <a:buNone/>
            </a:pPr>
            <a:r>
              <a:t/>
            </a:r>
            <a:endParaRPr/>
          </a:p>
        </p:txBody>
      </p:sp>
      <p:pic>
        <p:nvPicPr>
          <p:cNvPr id="187" name="Google Shape;187;p20" title="Screenshot 2025-12-03 at 2.41.20 PM.png"/>
          <p:cNvPicPr preferRelativeResize="0"/>
          <p:nvPr/>
        </p:nvPicPr>
        <p:blipFill>
          <a:blip r:embed="rId3">
            <a:alphaModFix/>
          </a:blip>
          <a:stretch>
            <a:fillRect/>
          </a:stretch>
        </p:blipFill>
        <p:spPr>
          <a:xfrm>
            <a:off x="4632300" y="1128325"/>
            <a:ext cx="4390525" cy="29627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1"/>
          <p:cNvSpPr txBox="1"/>
          <p:nvPr>
            <p:ph idx="1" type="body"/>
          </p:nvPr>
        </p:nvSpPr>
        <p:spPr>
          <a:xfrm>
            <a:off x="1297500" y="694850"/>
            <a:ext cx="3199500" cy="3783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GB" sz="1400" u="sng"/>
              <a:t>Insight 3 - Genre Revenue Trends</a:t>
            </a:r>
            <a:endParaRPr b="1" sz="1400" u="sng"/>
          </a:p>
          <a:p>
            <a:pPr indent="0" lvl="0" marL="0" rtl="0" algn="l">
              <a:spcBef>
                <a:spcPts val="0"/>
              </a:spcBef>
              <a:spcAft>
                <a:spcPts val="0"/>
              </a:spcAft>
              <a:buNone/>
            </a:pPr>
            <a:r>
              <a:t/>
            </a:r>
            <a:endParaRPr b="1" u="sng"/>
          </a:p>
          <a:p>
            <a:pPr indent="0" lvl="0" marL="0" rtl="0" algn="l">
              <a:spcBef>
                <a:spcPts val="0"/>
              </a:spcBef>
              <a:spcAft>
                <a:spcPts val="0"/>
              </a:spcAft>
              <a:buNone/>
            </a:pPr>
            <a:r>
              <a:rPr b="1" lang="en-GB" u="sng"/>
              <a:t>Goal</a:t>
            </a:r>
            <a:r>
              <a:rPr lang="en-GB"/>
              <a:t> - Pinpoint which movie genres generate the most revenue to guide future content deals.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u="sng"/>
              <a:t>Findings</a:t>
            </a:r>
            <a:r>
              <a:rPr lang="en-GB"/>
              <a:t> - The top three highest earnings are Sports, Sci-Fi, Animation. Genres like Music, Travel and Children earned the least.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u="sng"/>
              <a:t>How I showed</a:t>
            </a:r>
            <a:r>
              <a:rPr lang="en-GB"/>
              <a:t> - I used a chart called a Treemap. This chart uses size to show value, so the massive size of the Sports box made it immediately obvious that it was the dominant genre.</a:t>
            </a:r>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a:p>
          <a:p>
            <a:pPr indent="0" lvl="0" marL="0" rtl="0" algn="l">
              <a:spcBef>
                <a:spcPts val="0"/>
              </a:spcBef>
              <a:spcAft>
                <a:spcPts val="1200"/>
              </a:spcAft>
              <a:buNone/>
            </a:pPr>
            <a:r>
              <a:t/>
            </a:r>
            <a:endParaRPr/>
          </a:p>
        </p:txBody>
      </p:sp>
      <p:pic>
        <p:nvPicPr>
          <p:cNvPr id="193" name="Google Shape;193;p21" title="Screenshot 2025-12-03 at 2.46.13 PM.png"/>
          <p:cNvPicPr preferRelativeResize="0"/>
          <p:nvPr/>
        </p:nvPicPr>
        <p:blipFill>
          <a:blip r:embed="rId3">
            <a:alphaModFix/>
          </a:blip>
          <a:stretch>
            <a:fillRect/>
          </a:stretch>
        </p:blipFill>
        <p:spPr>
          <a:xfrm>
            <a:off x="4528275" y="878500"/>
            <a:ext cx="4528274" cy="32073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2"/>
          <p:cNvSpPr txBox="1"/>
          <p:nvPr>
            <p:ph type="title"/>
          </p:nvPr>
        </p:nvSpPr>
        <p:spPr>
          <a:xfrm>
            <a:off x="1297500" y="393750"/>
            <a:ext cx="7038900" cy="57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Summary and Final Solution</a:t>
            </a:r>
            <a:endParaRPr/>
          </a:p>
        </p:txBody>
      </p:sp>
      <p:sp>
        <p:nvSpPr>
          <p:cNvPr id="199" name="Google Shape;199;p22"/>
          <p:cNvSpPr txBox="1"/>
          <p:nvPr>
            <p:ph idx="1" type="body"/>
          </p:nvPr>
        </p:nvSpPr>
        <p:spPr>
          <a:xfrm>
            <a:off x="1297500" y="1166950"/>
            <a:ext cx="4299300" cy="33117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GB"/>
              <a:t>The analysis gave us solid answers to all the big questions, creating a simple, three-part plan for the 2020 online launch:</a:t>
            </a:r>
            <a:endParaRPr/>
          </a:p>
          <a:p>
            <a:pPr indent="0" lvl="0" marL="0" rtl="0" algn="l">
              <a:spcBef>
                <a:spcPts val="1200"/>
              </a:spcBef>
              <a:spcAft>
                <a:spcPts val="0"/>
              </a:spcAft>
              <a:buNone/>
            </a:pPr>
            <a:r>
              <a:rPr b="1" lang="en-GB"/>
              <a:t>Content Strategy(What to Buy):</a:t>
            </a:r>
            <a:r>
              <a:rPr lang="en-GB"/>
              <a:t> Rockbuster needs to focus on buying more PG-13 rated movies and films in the Sports, Sci-Fi, and Animation genres. These movies bring in the most money , so focusing the budget here will give the company the biggest profits.</a:t>
            </a:r>
            <a:endParaRPr/>
          </a:p>
          <a:p>
            <a:pPr indent="0" lvl="0" marL="0" rtl="0" algn="l">
              <a:spcBef>
                <a:spcPts val="1200"/>
              </a:spcBef>
              <a:spcAft>
                <a:spcPts val="0"/>
              </a:spcAft>
              <a:buNone/>
            </a:pPr>
            <a:r>
              <a:rPr b="1" lang="en-GB"/>
              <a:t>Market Strategy(Where to Focus):</a:t>
            </a:r>
            <a:r>
              <a:rPr lang="en-GB"/>
              <a:t> The most important countries are India, China, and the United States. These regions have the best, most loyal customers. We should launch targeted marketing and invest in infrastructure specifically in these three countries first.</a:t>
            </a:r>
            <a:endParaRPr/>
          </a:p>
          <a:p>
            <a:pPr indent="0" lvl="0" marL="0" rtl="0" algn="l">
              <a:spcBef>
                <a:spcPts val="1200"/>
              </a:spcBef>
              <a:spcAft>
                <a:spcPts val="1200"/>
              </a:spcAft>
              <a:buNone/>
            </a:pPr>
            <a:r>
              <a:rPr b="1" lang="en-GB"/>
              <a:t>Operational Strategy(How to Price):</a:t>
            </a:r>
            <a:r>
              <a:rPr lang="en-GB"/>
              <a:t> We learned that the average movie rental lasts 5 days. This is a key piece of information for setting up competitive subscription plans and pricing for the new streaming service.</a:t>
            </a:r>
            <a:endParaRPr/>
          </a:p>
        </p:txBody>
      </p:sp>
      <p:pic>
        <p:nvPicPr>
          <p:cNvPr id="200" name="Google Shape;200;p22" title="Screenshot 2025-12-04 at 9.14.55 AM.png"/>
          <p:cNvPicPr preferRelativeResize="0"/>
          <p:nvPr/>
        </p:nvPicPr>
        <p:blipFill>
          <a:blip r:embed="rId3">
            <a:alphaModFix/>
          </a:blip>
          <a:stretch>
            <a:fillRect/>
          </a:stretch>
        </p:blipFill>
        <p:spPr>
          <a:xfrm>
            <a:off x="5749200" y="1460250"/>
            <a:ext cx="2781300" cy="2694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3"/>
          <p:cNvSpPr txBox="1"/>
          <p:nvPr>
            <p:ph type="title"/>
          </p:nvPr>
        </p:nvSpPr>
        <p:spPr>
          <a:xfrm>
            <a:off x="1052550" y="911375"/>
            <a:ext cx="5203800" cy="760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sz="3100"/>
              <a:t>Retrospective</a:t>
            </a:r>
            <a:endParaRPr b="1" sz="3100"/>
          </a:p>
        </p:txBody>
      </p:sp>
      <p:sp>
        <p:nvSpPr>
          <p:cNvPr id="206" name="Google Shape;206;p23"/>
          <p:cNvSpPr txBox="1"/>
          <p:nvPr>
            <p:ph type="title"/>
          </p:nvPr>
        </p:nvSpPr>
        <p:spPr>
          <a:xfrm>
            <a:off x="675150" y="1850150"/>
            <a:ext cx="3122100" cy="2606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sz="1500"/>
              <a:t>👍 </a:t>
            </a:r>
            <a:r>
              <a:rPr b="1" lang="en-GB" sz="1200"/>
              <a:t>What Went Well?</a:t>
            </a:r>
            <a:endParaRPr b="1" sz="1200"/>
          </a:p>
          <a:p>
            <a:pPr indent="0" lvl="0" marL="0" rtl="0" algn="l">
              <a:spcBef>
                <a:spcPts val="0"/>
              </a:spcBef>
              <a:spcAft>
                <a:spcPts val="0"/>
              </a:spcAft>
              <a:buNone/>
            </a:pPr>
            <a:r>
              <a:rPr lang="en-GB" sz="1000">
                <a:latin typeface="Arial"/>
                <a:ea typeface="Arial"/>
                <a:cs typeface="Arial"/>
                <a:sym typeface="Arial"/>
              </a:rPr>
              <a:t>The project's greatest success was delivering a clear, data-driven plan for the online shift. I organized the customer and film data, allowing to find the most pr</a:t>
            </a:r>
            <a:endParaRPr sz="1000">
              <a:latin typeface="Arial"/>
              <a:ea typeface="Arial"/>
              <a:cs typeface="Arial"/>
              <a:sym typeface="Arial"/>
            </a:endParaRPr>
          </a:p>
          <a:p>
            <a:pPr indent="0" lvl="0" marL="0" rtl="0" algn="l">
              <a:spcBef>
                <a:spcPts val="0"/>
              </a:spcBef>
              <a:spcAft>
                <a:spcPts val="0"/>
              </a:spcAft>
              <a:buNone/>
            </a:pPr>
            <a:r>
              <a:rPr lang="en-GB" sz="1000">
                <a:latin typeface="Arial"/>
                <a:ea typeface="Arial"/>
                <a:cs typeface="Arial"/>
                <a:sym typeface="Arial"/>
              </a:rPr>
              <a:t>ofitable movie ratings (PG-13) and key countries (India, China, US). This provided a straightforward strategy for content buying and marketing.</a:t>
            </a:r>
            <a:endParaRPr sz="1000">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rPr b="1" lang="en-GB" sz="1200"/>
              <a:t>🚫 Biggest Challenge</a:t>
            </a:r>
            <a:endParaRPr b="1" sz="1200"/>
          </a:p>
          <a:p>
            <a:pPr indent="0" lvl="0" marL="0" rtl="0" algn="l">
              <a:spcBef>
                <a:spcPts val="0"/>
              </a:spcBef>
              <a:spcAft>
                <a:spcPts val="0"/>
              </a:spcAft>
              <a:buNone/>
            </a:pPr>
            <a:r>
              <a:rPr lang="en-GB" sz="1100">
                <a:latin typeface="Arial"/>
                <a:ea typeface="Arial"/>
                <a:cs typeface="Arial"/>
                <a:sym typeface="Arial"/>
              </a:rPr>
              <a:t>The initial analysis required significant effort to accurately connect revenue to specific genres and regions. Since the payment, rental, and film details were spread across many database tables, ensuring all the joins were correct for the final revenue totals was tricky and time-consuming.</a:t>
            </a:r>
            <a:endParaRPr b="1" sz="1200"/>
          </a:p>
        </p:txBody>
      </p:sp>
      <p:sp>
        <p:nvSpPr>
          <p:cNvPr id="207" name="Google Shape;207;p23"/>
          <p:cNvSpPr txBox="1"/>
          <p:nvPr>
            <p:ph type="title"/>
          </p:nvPr>
        </p:nvSpPr>
        <p:spPr>
          <a:xfrm>
            <a:off x="4343050" y="1850150"/>
            <a:ext cx="3504600" cy="2571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sz="1500"/>
              <a:t>👍 </a:t>
            </a:r>
            <a:r>
              <a:rPr b="1" lang="en-GB" sz="1200"/>
              <a:t>⏭️ Future Steps</a:t>
            </a:r>
            <a:endParaRPr b="1" sz="1200"/>
          </a:p>
          <a:p>
            <a:pPr indent="0" lvl="0" marL="0" rtl="0" algn="l">
              <a:spcBef>
                <a:spcPts val="0"/>
              </a:spcBef>
              <a:spcAft>
                <a:spcPts val="0"/>
              </a:spcAft>
              <a:buNone/>
            </a:pPr>
            <a:r>
              <a:rPr lang="en-GB" sz="1100">
                <a:latin typeface="Arial"/>
                <a:ea typeface="Arial"/>
                <a:cs typeface="Arial"/>
                <a:sym typeface="Arial"/>
              </a:rPr>
              <a:t>For future analysis, I need to look closely at whether our top genres sell well in all regions. I'd analyze if the most popular movies globally (Sports, Sci-Fi, Animation) are also the most popular in countries like India, China, and the U.S., or if tastes are different locally.</a:t>
            </a:r>
            <a:endParaRPr b="1" sz="1600"/>
          </a:p>
          <a:p>
            <a:pPr indent="0" lvl="0" marL="0" rtl="0" algn="ctr">
              <a:spcBef>
                <a:spcPts val="0"/>
              </a:spcBef>
              <a:spcAft>
                <a:spcPts val="0"/>
              </a:spcAft>
              <a:buNone/>
            </a:pPr>
            <a:r>
              <a:t/>
            </a:r>
            <a:endParaRPr b="1" sz="2322">
              <a:solidFill>
                <a:srgbClr val="274E13"/>
              </a:solidFill>
            </a:endParaRPr>
          </a:p>
          <a:p>
            <a:pPr indent="0" lvl="0" marL="0" rtl="0" algn="l">
              <a:spcBef>
                <a:spcPts val="0"/>
              </a:spcBef>
              <a:spcAft>
                <a:spcPts val="0"/>
              </a:spcAft>
              <a:buNone/>
            </a:pPr>
            <a:r>
              <a:rPr b="1" lang="en-GB" sz="1200"/>
              <a:t>✨ Final Thoughts</a:t>
            </a:r>
            <a:endParaRPr b="1" sz="1200"/>
          </a:p>
          <a:p>
            <a:pPr indent="0" lvl="0" marL="0" rtl="0" algn="l">
              <a:spcBef>
                <a:spcPts val="0"/>
              </a:spcBef>
              <a:spcAft>
                <a:spcPts val="0"/>
              </a:spcAft>
              <a:buNone/>
            </a:pPr>
            <a:r>
              <a:rPr lang="en-GB" sz="1100">
                <a:latin typeface="Arial"/>
                <a:ea typeface="Arial"/>
                <a:cs typeface="Arial"/>
                <a:sym typeface="Arial"/>
              </a:rPr>
              <a:t>I'm very proud that this analysis created a solid, measurable roadmap for success. It showed the company exactly where to spend money and where to focus efforts to become profitable in the new digital streaming world.</a:t>
            </a:r>
            <a:endParaRPr b="1" sz="1200"/>
          </a:p>
        </p:txBody>
      </p:sp>
      <p:pic>
        <p:nvPicPr>
          <p:cNvPr id="208" name="Google Shape;208;p23" title="Screenshot 2025-12-04 at 10.27.55 AM.png"/>
          <p:cNvPicPr preferRelativeResize="0"/>
          <p:nvPr/>
        </p:nvPicPr>
        <p:blipFill>
          <a:blip r:embed="rId3">
            <a:alphaModFix/>
          </a:blip>
          <a:stretch>
            <a:fillRect/>
          </a:stretch>
        </p:blipFill>
        <p:spPr>
          <a:xfrm>
            <a:off x="7167750" y="520725"/>
            <a:ext cx="1486975" cy="1601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